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45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0" y="5029200"/>
            <a:ext cx="7315200" cy="2743200"/>
          </a:xfrm>
          <a:prstGeom prst="ellipse">
            <a:avLst/>
          </a:prstGeom>
          <a:solidFill>
            <a:srgbClr val="145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</a:defRPr>
            </a:pPr>
            <a:r>
              <a:t>智汇人才匹配系统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EC6EB"/>
                </a:solidFill>
              </a:defRPr>
            </a:pPr>
            <a:r>
              <a:t>AI-Powered Talent Match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AEE0"/>
                </a:solidFill>
              </a:defRPr>
            </a:pPr>
            <a:r>
              <a:t>基于大语言模型的智能简历解析与多维度人岗匹配系统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2AE"/>
                </a:solidFill>
              </a:defRPr>
            </a:pPr>
            <a:r>
              <a:t>项目设计方案  | 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943600"/>
            <a:ext cx="1828800" cy="320040"/>
          </a:xfrm>
          <a:prstGeom prst="roundRect">
            <a:avLst>
              <a:gd name="adj" fmla="val 30000"/>
            </a:avLst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EC6EB"/>
                </a:solidFill>
              </a:defRPr>
            </a:pPr>
            <a:r>
              <a:t>Spring Boot 2.7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5943600"/>
            <a:ext cx="1828800" cy="320040"/>
          </a:xfrm>
          <a:prstGeom prst="roundRect">
            <a:avLst>
              <a:gd name="adj" fmla="val 30000"/>
            </a:avLst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EC6EB"/>
                </a:solidFill>
              </a:defRPr>
            </a:pPr>
            <a:r>
              <a:t>Vue 3 + ECharts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5943600"/>
            <a:ext cx="1828800" cy="320040"/>
          </a:xfrm>
          <a:prstGeom prst="roundRect">
            <a:avLst>
              <a:gd name="adj" fmla="val 30000"/>
            </a:avLst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EC6EB"/>
                </a:solidFill>
              </a:defRPr>
            </a:pPr>
            <a:r>
              <a:t>DeepSeek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5943600"/>
            <a:ext cx="1828800" cy="320040"/>
          </a:xfrm>
          <a:prstGeom prst="roundRect">
            <a:avLst>
              <a:gd name="adj" fmla="val 30000"/>
            </a:avLst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EC6EB"/>
                </a:solidFill>
              </a:defRPr>
            </a:pPr>
            <a:r>
              <a:t>MySQL 8.0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F"/>
                </a:solidFill>
              </a:defRPr>
            </a:pPr>
            <a:r>
              <a:t>目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417320"/>
            <a:ext cx="411480" cy="41148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</a:defRPr>
            </a:pPr>
            <a:r>
              <a:t>项目背景与目标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省级人才服务平台的数字化转型需求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417320"/>
            <a:ext cx="411480" cy="41148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</a:defRPr>
            </a:pPr>
            <a:r>
              <a:t>系统总体架构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前后端分离 + LLM 微服务架构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14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</a:defRPr>
            </a:pPr>
            <a:r>
              <a:t>核心技术栈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Spring Boot / Vue 3 / DeepSeek / MySQL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560320"/>
            <a:ext cx="411480" cy="41148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514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</a:defRPr>
            </a:pPr>
            <a:r>
              <a:t>核心功能详解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用户管理、文件解析、智能匹配、意向沟通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</a:defRPr>
            </a:pPr>
            <a:r>
              <a:t>算法与评分模型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教育 / 城市 / Jaccard / 余弦相似度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703320"/>
            <a:ext cx="411480" cy="41148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</a:defRPr>
            </a:pPr>
            <a:r>
              <a:t>数据库设计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User / Resume / Job / Intent 四张核心表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846320"/>
            <a:ext cx="411480" cy="41148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00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</a:defRPr>
            </a:pPr>
            <a:r>
              <a:t>前端交互设计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66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雷达图 / 技能图谱 / 响应式布局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846320"/>
            <a:ext cx="411480" cy="41148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800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</a:defRPr>
            </a:pPr>
            <a:r>
              <a:t>总结与规划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166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当前成果与未来演进方向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F"/>
                </a:solidFill>
              </a:defRPr>
            </a:pPr>
            <a:r>
              <a:t>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BACKGROUND &amp;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项目背景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传统简历筛选依赖人工</a:t>
            </a:r>
            <a:br/>
            <a:r>
              <a:t>人才与岗位匹配精度不足</a:t>
            </a:r>
            <a:br/>
            <a:r>
              <a:t>企业和求职者信息不对称</a:t>
            </a:r>
            <a:br/>
            <a:r>
              <a:t>急需AI驱动的自动化方案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核心目标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构建AI简历解析引擎</a:t>
            </a:r>
            <a:br/>
            <a:r>
              <a:t>实现多维度精准匹配算法</a:t>
            </a:r>
            <a:br/>
            <a:r>
              <a:t>提供个性化推荐与排序</a:t>
            </a:r>
            <a:br/>
            <a:r>
              <a:t>建立双向意向沟通机制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10972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核心创新点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607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DeepSeek LLM结构化提取 | 四维加权评分(100分制)</a:t>
            </a:r>
            <a:br/>
            <a:r>
              <a:t>个人/企业双视角推荐 | ECharts雷达图+力导向图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F"/>
                </a:solidFill>
              </a:defRPr>
            </a:pPr>
            <a:r>
              <a:t>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280160"/>
            <a:ext cx="8503920" cy="594360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[用户层]</a:t>
            </a:r>
          </a:p>
          <a:p>
            <a:pPr algn="ctr">
              <a:defRPr sz="1100">
                <a:solidFill>
                  <a:srgbClr val="DDE8FF"/>
                </a:solidFill>
              </a:defRPr>
            </a:pPr>
            <a:r>
              <a:t>个人用户/企业用户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8503920" cy="594360"/>
          </a:xfrm>
          <a:prstGeom prst="roundRect">
            <a:avLst>
              <a:gd name="adj" fmla="val 15000"/>
            </a:avLst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[展示层]</a:t>
            </a:r>
          </a:p>
          <a:p>
            <a:pPr algn="ctr">
              <a:defRPr sz="1100">
                <a:solidFill>
                  <a:srgbClr val="DDE8FF"/>
                </a:solidFill>
              </a:defRPr>
            </a:pPr>
            <a:r>
              <a:t>Vue 3 + ECharts + Element-style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743200"/>
            <a:ext cx="8503920" cy="594360"/>
          </a:xfrm>
          <a:prstGeom prst="roundRect">
            <a:avLst>
              <a:gd name="adj" fmla="val 15000"/>
            </a:avLst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[API层]</a:t>
            </a:r>
          </a:p>
          <a:p>
            <a:pPr algn="ctr">
              <a:defRPr sz="1100">
                <a:solidFill>
                  <a:srgbClr val="DDE8FF"/>
                </a:solidFill>
              </a:defRPr>
            </a:pPr>
            <a:r>
              <a:t>RESTful API / Spring Boot Controllers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474720"/>
            <a:ext cx="8503920" cy="594360"/>
          </a:xfrm>
          <a:prstGeom prst="roundRect">
            <a:avLst>
              <a:gd name="adj" fmla="val 15000"/>
            </a:avLst>
          </a:prstGeom>
          <a:solidFill>
            <a:srgbClr val="145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[业务层]</a:t>
            </a:r>
          </a:p>
          <a:p>
            <a:pPr algn="ctr">
              <a:defRPr sz="1100">
                <a:solidFill>
                  <a:srgbClr val="DDE8FF"/>
                </a:solidFill>
              </a:defRPr>
            </a:pPr>
            <a:r>
              <a:t>Parse / Match / Intent / Recommend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206240"/>
            <a:ext cx="8503920" cy="594360"/>
          </a:xfrm>
          <a:prstGeom prst="roundRect">
            <a:avLst>
              <a:gd name="adj" fmla="val 15000"/>
            </a:avLst>
          </a:prstGeom>
          <a:solidFill>
            <a:srgbClr val="0D3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[数据层]</a:t>
            </a:r>
          </a:p>
          <a:p>
            <a:pPr algn="ctr">
              <a:defRPr sz="1100">
                <a:solidFill>
                  <a:srgbClr val="DDE8FF"/>
                </a:solidFill>
              </a:defRPr>
            </a:pPr>
            <a:r>
              <a:t>MySQL 8.0 + MyBatis-Plus 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937760"/>
            <a:ext cx="8503920" cy="594360"/>
          </a:xfrm>
          <a:prstGeom prst="roundRect">
            <a:avLst>
              <a:gd name="adj" fmla="val 15000"/>
            </a:avLst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[AI层]</a:t>
            </a:r>
          </a:p>
          <a:p>
            <a:pPr algn="ctr">
              <a:defRPr sz="1100">
                <a:solidFill>
                  <a:srgbClr val="DDE8FF"/>
                </a:solidFill>
              </a:defRPr>
            </a:pPr>
            <a:r>
              <a:t>DeepSeek LLM + PDFBox + Apache POI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简历解析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智能匹配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意向沟通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可视化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F"/>
                </a:solidFill>
              </a:defRPr>
            </a:pPr>
            <a:r>
              <a:t>核心技术栈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后端框架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- Spring Boot 2.7.18</a:t>
            </a:r>
            <a:br/>
            <a:r>
              <a:t>- Java 8</a:t>
            </a:r>
            <a:br/>
            <a:r>
              <a:t>- MyBatis-Plus 3.5.3</a:t>
            </a:r>
            <a:br/>
            <a:r>
              <a:t>- Maven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2C41A"/>
                </a:solidFill>
              </a:defRPr>
            </a:pPr>
            <a:r>
              <a:t>前端技术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- Vue 3 (Composition API)</a:t>
            </a:r>
            <a:br/>
            <a:r>
              <a:t>- Vite构建</a:t>
            </a:r>
            <a:br/>
            <a:r>
              <a:t>- ECharts可视化</a:t>
            </a:r>
            <a:br/>
            <a:r>
              <a:t>- Axios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22ED1"/>
                </a:solidFill>
              </a:defRPr>
            </a:pPr>
            <a:r>
              <a:t>AI与大模型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- DeepSeek Chat</a:t>
            </a:r>
            <a:br/>
            <a:r>
              <a:t>- Ollama Qwen2:7b</a:t>
            </a:r>
            <a:br/>
            <a:r>
              <a:t>- 通义千问DashScope</a:t>
            </a:r>
            <a:br/>
            <a:r>
              <a:t>- Prompt工程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AD14"/>
                </a:solidFill>
              </a:defRPr>
            </a:pPr>
            <a:r>
              <a:t>数据处理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- PDFBox 2.0</a:t>
            </a:r>
            <a:br/>
            <a:r>
              <a:t>- Apache POI 5.2</a:t>
            </a:r>
            <a:br/>
            <a:r>
              <a:t>- FastJSON</a:t>
            </a:r>
            <a:br/>
            <a:r>
              <a:t>- Lombok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5ACC"/>
                </a:solidFill>
              </a:defRPr>
            </a:pPr>
            <a:r>
              <a:t>数据库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9768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- MySQL 8.0</a:t>
            </a:r>
            <a:br/>
            <a:r>
              <a:t>- MySQL Connector</a:t>
            </a:r>
            <a:br/>
            <a:r>
              <a:t>- HikariCP池</a:t>
            </a:r>
            <a:br/>
            <a:r>
              <a:t>- UTF-8 MB4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t>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- Spring Boot Jar</a:t>
            </a:r>
            <a:br/>
            <a:r>
              <a:t>- Vite产物</a:t>
            </a:r>
            <a:br/>
            <a:r>
              <a:t>- Maven</a:t>
            </a:r>
            <a:br/>
            <a:r>
              <a:t>- 跨平台存储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</a:defRPr>
            </a:pPr>
            <a:r>
              <a:t>核心功能(一): 用户管理与文件解析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CORE FEATURES: USER &amp; PARSING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用户管理系统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37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注册:角色选择-&gt;用户名/密码-&gt;手机号/城市</a:t>
            </a:r>
            <a:br/>
            <a:r>
              <a:t>登录:验证-&gt;Session存储userId+role-&gt;跳转看板</a:t>
            </a:r>
            <a:br/>
            <a:r>
              <a:t>权限:个人用户可上传简历/查看推荐/发意向</a:t>
            </a:r>
            <a:br/>
            <a:r>
              <a:t>企业用户可发布职位/查看候选人/发邀约</a:t>
            </a:r>
            <a:br/>
            <a:r>
              <a:t>基于Session管理，自动过期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文件上传与智能解析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937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上传:.doc/.docx/.pdf (&lt;=10MB) -&gt; UUID重命名 -&gt; uploads/日期目录</a:t>
            </a:r>
            <a:br/>
            <a:r>
              <a:t>解析: PDFBox/POI提取文本 -&gt; DeepSeek LLM调用 -&gt; JSON清洗 -&gt; 回写数据库</a:t>
            </a:r>
            <a:br/>
            <a:r>
              <a:t>兜底: LLM失败时使用正则规则提取</a:t>
            </a:r>
            <a:br/>
            <a:r>
              <a:t>输出: {name,education,skills[],experience,city}</a:t>
            </a:r>
            <a:br/>
            <a:r>
              <a:t>{title,eduReq,skillReq[],expReq,city}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</a:defRPr>
            </a:pPr>
            <a:r>
              <a:t>核心功能(二): 多维度能力画像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CORE FEATURES: PROFILE DIMENSIONS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技术深度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737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技能数:0-&gt;0分,&gt;=5-&gt;100分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508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2C41A"/>
                </a:solidFill>
              </a:defRPr>
            </a:pPr>
            <a:r>
              <a:t>项目经验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1737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年数:0-&gt;0分,&gt;=6-&gt;100分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508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AD14"/>
                </a:solidFill>
              </a:defRPr>
            </a:pPr>
            <a:r>
              <a:t>学历背景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828800"/>
            <a:ext cx="1737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博士100/硕士90/本科70/大专40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508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22ED1"/>
                </a:solidFill>
              </a:defRPr>
            </a:pPr>
            <a:r>
              <a:t>稳定性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828800"/>
            <a:ext cx="1737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基础值70分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1508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2F96"/>
                </a:solidFill>
              </a:defRPr>
            </a:pPr>
            <a:r>
              <a:t>沟通协作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828800"/>
            <a:ext cx="1737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基础值80分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74720"/>
            <a:ext cx="109728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能力可视化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10607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雷达图(ECharts):五边形能力图谱，支持个人vs岗位叠加对比</a:t>
            </a:r>
            <a:br/>
            <a:r>
              <a:t>力导向图(ForceGraph):技能标签节点自动聚类，展示技能关联网络</a:t>
            </a:r>
            <a:br/>
            <a:r>
              <a:t>维度评分同时应用于匹配算法，实现分析-可视化-匹配闭环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</a:defRPr>
            </a:pPr>
            <a:r>
              <a:t>核心功能(三): 智能匹配评分模型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CORE FEATURES: MATCH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教育匹配 20分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求职者学历&gt;=要求-&gt;20分</a:t>
            </a:r>
            <a:br/>
            <a:r>
              <a:t>差一级-&gt;10分，差两级以上-&gt;0分</a:t>
            </a:r>
            <a:br/>
            <a:r>
              <a:t>无要求-&gt;自动满分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城市匹配 20分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同城市-&gt;20分</a:t>
            </a:r>
            <a:br/>
            <a:r>
              <a:t>同省份(前2字)-&gt;10分</a:t>
            </a:r>
            <a:br/>
            <a:r>
              <a:t>不同城市-&gt;0分</a:t>
            </a:r>
            <a:br/>
            <a:r>
              <a:t>无要求-&gt;自动满分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19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Jaccard相似度 30分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39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J(A,B)=|A交集B|/|A并集B|</a:t>
            </a:r>
            <a:br/>
            <a:r>
              <a:t>对稀疏技能集敏感</a:t>
            </a:r>
            <a:br/>
            <a:r>
              <a:t>保守可靠的相似度度量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39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88619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余弦相似度 30分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39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cos(theta)=(A.B)/(||A||*||B||)</a:t>
            </a:r>
            <a:br/>
            <a:r>
              <a:t>基于词频向量计算</a:t>
            </a:r>
            <a:br/>
            <a:r>
              <a:t>对频次分布敏感，宽容度高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</a:defRPr>
            </a:pPr>
            <a:r>
              <a:t>核心功能(四): 智能推荐体系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CORE FEATURES: RECOMMENDATION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个人用户 - 职位推荐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37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流程:上传简历-&gt;获取最新简历-&gt;遍历所有职位逐对评分-&gt;降序Top10</a:t>
            </a:r>
            <a:br/>
            <a:r>
              <a:t>展示:职位名/公司/匹配度+进度条/学历/城市/技能</a:t>
            </a:r>
            <a:br/>
            <a:r>
              <a:t>按钮:发送意向(自荐语)</a:t>
            </a:r>
            <a:br/>
            <a:r>
              <a:t>API: GET /api/match/recommend/jobs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企业用户 - 候选人推荐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937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流程:上传职位-&gt;获取最新职位-&gt;遍历所有简历逐对评分-&gt;降序Top10</a:t>
            </a:r>
            <a:br/>
            <a:r>
              <a:t>展示:候选人名(脱敏)/匹配度/学历/年限/城市/技能</a:t>
            </a:r>
            <a:br/>
            <a:r>
              <a:t>按钮:发起邀约(邀约语)</a:t>
            </a:r>
            <a:br/>
            <a:r>
              <a:t>API: GET /api/match/recommend/candidates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</a:defRPr>
            </a:pPr>
            <a:r>
              <a:t>核心功能(五): 意向沟通机制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CORE FEATURES: INTENT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意向沟通流程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37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个人-&gt;企业: 发送意向-&gt;填写自荐语-&gt;待回应-&gt;企业接受-&gt;联系方式解锁</a:t>
            </a:r>
            <a:br/>
            <a:r>
              <a:t>企业-&gt;个人: 发起邀约-&gt;填写邀约语-&gt;待回应-&gt;个人接受-&gt;联系方式解锁</a:t>
            </a:r>
            <a:br/>
            <a:r>
              <a:t>状态: 待回应(0)-&gt;已接受(1)/已拒绝(2)/已过期(3)</a:t>
            </a:r>
            <a:br/>
            <a:r>
              <a:t>默认7天过期，双方接受后解锁手机号+邮箱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意向管理页面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937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双Tab: 我发出的 / 我收到的</a:t>
            </a:r>
            <a:br/>
            <a:r>
              <a:t>操作: 待回应-&gt;[接受][拒绝]</a:t>
            </a:r>
            <a:br/>
            <a:r>
              <a:t>已接受-&gt;[查看联系方式]</a:t>
            </a:r>
            <a:br/>
            <a:r>
              <a:t>已拒绝/已过期-&gt;仅展示状态</a:t>
            </a:r>
            <a:br/>
            <a:r>
              <a:t>防重复: 相同组合只能有一条待回应记录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F"/>
                </a:solidFill>
              </a:defRPr>
            </a:pPr>
            <a:r>
              <a:t>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DATABASE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user用户表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id PK, username UNIQUE, password, role(0个人/1企业), phone, city, create_time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resume简历表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id PK, user_id FK, file_path, parsed_json(JSON), create_time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job职位表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id PK, user_id FK, file_path, parsed_json(JSON), create_time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intent意向表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id PK, from_user_id, to_user_id, resume_id/job_id, type, status(0/1/2/3), message, expire_time, create_time, update_time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F"/>
                </a:solidFill>
              </a:defRPr>
            </a:pPr>
            <a:r>
              <a:t>前端交互与可视化设计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UI/UX &amp;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响应式布局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侧边栏+主内容,Grid自适应4-&gt;2-&gt;1列,移动端隐藏侧边栏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2C41A"/>
                </a:solidFill>
              </a:defRPr>
            </a:pPr>
            <a:r>
              <a:t>ECharts雷达图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五边形能力图谱,蓝(个人)/黄(岗位)双色对比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22ED1"/>
                </a:solidFill>
              </a:defRPr>
            </a:pPr>
            <a:r>
              <a:t>力导向图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技能标签节点自动聚类,节点大小=重要性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3716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AD14"/>
                </a:solidFill>
              </a:defRPr>
            </a:pPr>
            <a:r>
              <a:t>轮播Banner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828800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首页/登录/工作台均支持,4s自动+手动导航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109728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</a:defRPr>
            </a:pPr>
            <a:r>
              <a:t>前端核心页面 (11个Vue页面)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106070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HomePage首页 / login+register登录注册 / Dashboard工作台</a:t>
            </a:r>
            <a:br/>
            <a:r>
              <a:t>Personal个人中心+Enterprise企业中心 / Recommend职位推荐</a:t>
            </a:r>
            <a:br/>
            <a:r>
              <a:t>Candidates候选人推荐 / IntentManagement意向管理</a:t>
            </a:r>
            <a:br/>
            <a:r>
              <a:t>AppSidebar侧边栏 / RadarChart雷达图 / ForceGraph力导向图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F"/>
                </a:solidFill>
              </a:defRPr>
            </a:pPr>
            <a:r>
              <a:t>关键数据流程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KEY DATA FLOWS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17320"/>
            <a:ext cx="320040" cy="32004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5F"/>
                </a:solidFill>
              </a:defRPr>
            </a:pPr>
            <a:r>
              <a:t>简历解析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89888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t>上传-&gt;校验-&gt;UUID存储-&gt;PDFBox/POI提取-&gt;DeepSeek LLM-&gt;JSON清洗-&gt;回写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5F"/>
                </a:solidFill>
              </a:defRPr>
            </a:pPr>
            <a:r>
              <a:t>匹配计算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24328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t>获取简历+职位JSON-&gt;解析字段-&gt;计算教育+城市+Jaccard+余弦-&gt;总分-&gt;MatchResult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86200"/>
            <a:ext cx="320040" cy="32004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5F"/>
                </a:solidFill>
              </a:defRPr>
            </a:pPr>
            <a:r>
              <a:t>推荐排序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858768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t>获取最新简历/职位-&gt;遍历全部逐对计算-&gt;总分降序-&gt;Top10-&gt;返回前端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120640"/>
            <a:ext cx="320040" cy="32004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5F"/>
                </a:solidFill>
              </a:defRPr>
            </a:pPr>
            <a:r>
              <a:t>意向沟通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093208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t>发送-&gt;防重复检查-&gt;创建待回应记录-&gt;目标用户查看-&gt;接受(解锁联系方式)/拒绝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总结与未来规划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EC6EB"/>
                </a:solidFill>
              </a:defRPr>
            </a:pPr>
            <a:r>
              <a:t>SUMMARY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2C41A"/>
                </a:solidFill>
              </a:defRPr>
            </a:pPr>
            <a:r>
              <a:t>已实现成果(GREEN)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1.完整用户注册/登录/角色管理体系</a:t>
            </a:r>
            <a:br/>
            <a:r>
              <a:t>2.多格式文件上传与AI智能解析引擎</a:t>
            </a:r>
            <a:br/>
            <a:r>
              <a:t>3.五维度能力画像与ECharts可视化</a:t>
            </a:r>
            <a:br/>
            <a:r>
              <a:t>4.四维加权匹配评分算法(100分制)</a:t>
            </a:r>
            <a:br/>
            <a:r>
              <a:t>5.个人/企业双视角Top10推荐系统</a:t>
            </a:r>
            <a:br/>
            <a:r>
              <a:t>6.双向意向沟通与联系方式解锁</a:t>
            </a:r>
            <a:br/>
            <a:r>
              <a:t>7.Session用户权限控制</a:t>
            </a:r>
            <a:br/>
            <a:r>
              <a:t>8.响应式布局+雷达图/力导向图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AD14"/>
                </a:solidFill>
              </a:defRPr>
            </a:pPr>
            <a:r>
              <a:t>未来演进方向(ORANGE)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</a:defRPr>
            </a:pPr>
            <a:r>
              <a:t>1.OCR图片文字提取</a:t>
            </a:r>
            <a:br/>
            <a:r>
              <a:t>2.RAG检索增强生成</a:t>
            </a:r>
            <a:br/>
            <a:r>
              <a:t>3.权重学习+用户反馈闭环</a:t>
            </a:r>
            <a:br/>
            <a:r>
              <a:t>4.历史版本管理与趋势分析</a:t>
            </a:r>
            <a:br/>
            <a:r>
              <a:t>5.在线简历编辑器</a:t>
            </a:r>
            <a:br/>
            <a:r>
              <a:t>6.邮件/短信消息推送</a:t>
            </a:r>
            <a:br/>
            <a:r>
              <a:t>7.管理者看板与统计报表</a:t>
            </a:r>
            <a:br/>
            <a:r>
              <a:t>8.微服务+Docker/K8s容器化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EC6EB"/>
                </a:solidFill>
              </a:defRPr>
            </a:pPr>
            <a:r>
              <a:t>智汇人才匹配系统 - 以AI技术解决人才招聘中的信息不对称问题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82AE"/>
                </a:solidFill>
              </a:defRPr>
            </a:pPr>
            <a:r>
              <a:t>(c) 2026 智汇人才匹配系统 | 项目设计方案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